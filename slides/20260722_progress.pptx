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272E"/>
                </a:solidFill>
                <a:latin typeface="Meiryo"/>
              </a:rPr>
              <a:t>SAE-EditFlow: 学習した編集器で行う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272E"/>
                </a:solidFill>
                <a:latin typeface="Meiryo"/>
              </a:rPr>
              <a:t>SAE活性への介入と、その因果検証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5A6472"/>
                </a:solidFill>
                <a:latin typeface="Meiryo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272E"/>
                </a:solidFill>
                <a:latin typeface="Meiryo"/>
              </a:rPr>
              <a:t>Yohei Kobashi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29E"/>
                </a:solidFill>
                <a:latin typeface="Meiryo"/>
              </a:rPr>
              <a:t>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Introduction — 何を目指すか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言語の特徴とLLM内部の対応づけ: </a:t>
            </a:r>
            <a:r>
              <a:rPr sz="1800">
                <a:solidFill>
                  <a:srgbClr val="22272E"/>
                </a:solidFill>
                <a:latin typeface="Meiryo"/>
              </a:rPr>
              <a:t>SAE(スパース自己符号化器)を使うと、LLMの内部状態を「意味を持つ小さな部品(活性)」に分解できる。「過去形」「敬語」などの言語学的特徴がどの活性に対応するかを特定できれば、LLMが言語をどう扱っているかを説明する土台になる(LinguaLensの路線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課題: </a:t>
            </a:r>
            <a:r>
              <a:rPr sz="1800">
                <a:solidFill>
                  <a:srgbClr val="22272E"/>
                </a:solidFill>
                <a:latin typeface="Meiryo"/>
              </a:rPr>
              <a:t>特定した活性が「本当に」その特徴を担うかは、介入(その活性を操作して出力が変わるか)で確かめたい。しかし既存の介入は定数書き込みや単純な足し算で、効果が弱く不安定 — 因果検証の道具として力不足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本研究の提案: </a:t>
            </a:r>
            <a:r>
              <a:rPr sz="1800">
                <a:solidFill>
                  <a:srgbClr val="22272E"/>
                </a:solidFill>
                <a:latin typeface="Meiryo"/>
              </a:rPr>
              <a:t>介入を固定ルールではなく「学習した編集器」に生成させる。編集器はSAE活性の指定(スペック)を読み、凍結LMの内部状態に加える編集ベクトルΔhを出力する。最小対(1点だけ違う文のペア)の編集が成功するかで、活性の対応を因果的に検証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先行研究① LinguaLens (Jing+ 2025, EMNLP)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貢献: </a:t>
            </a:r>
            <a:r>
              <a:rPr sz="1700">
                <a:solidFill>
                  <a:srgbClr val="22272E"/>
                </a:solidFill>
                <a:latin typeface="Meiryo"/>
              </a:rPr>
              <a:t>言語学的特徴145種(英語99・中国語46)を形態・統語・意味・語用の4分類で整理し、特徴ごとに約50組の最小対データを構築(LinguaLens-Data)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>
                <a:solidFill>
                  <a:srgbClr val="22272E"/>
                </a:solidFill>
                <a:latin typeface="Meiryo"/>
              </a:rPr>
              <a:t>各特徴に対応するSAE活性をPS/PN/FRC(発火の十分性・必要性)で特定し、LLM内部の言語知識の分布(層・言語間)を大規模に分析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介入の方法: </a:t>
            </a:r>
            <a:r>
              <a:rPr sz="1700">
                <a:solidFill>
                  <a:srgbClr val="22272E"/>
                </a:solidFill>
                <a:latin typeface="Meiryo"/>
              </a:rPr>
              <a:t>特定した上位3活性の値を固定値に書き換える(強める=10 / 消す=0)→ 自由生成をGPT-4oで判定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介入での課題(彼ら自身も明記): </a:t>
            </a:r>
            <a:r>
              <a:rPr sz="1700">
                <a:solidFill>
                  <a:srgbClr val="22272E"/>
                </a:solidFill>
                <a:latin typeface="Meiryo"/>
              </a:rPr>
              <a:t>「単発の介入の効果と安定性はfine-tuningに及ばない。SAEベースの介入手法の改良が必要」— 並行する活性経路が補償してしまい、効果が薄まる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我々の分析でも: </a:t>
            </a:r>
            <a:r>
              <a:rPr sz="1700">
                <a:solidFill>
                  <a:srgbClr val="22272E"/>
                </a:solidFill>
                <a:latin typeface="Meiryo"/>
              </a:rPr>
              <a:t>同定は全データでのin-sample選択で、データを半分にすると選ばれる活性の4割超が入れ替わる(スコア自体は保たれる=ほぼ同点の活性が多数)。介入と同定の両方に改良余地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先行研究② AxBench (Wu+ 2025)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扱うタスク: </a:t>
            </a:r>
            <a:r>
              <a:rPr sz="1800">
                <a:solidFill>
                  <a:srgbClr val="22272E"/>
                </a:solidFill>
                <a:latin typeface="Meiryo"/>
              </a:rPr>
              <a:t>500概念(Gemma-2 2B/9B)を対象にした2つのベンチマーク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600">
                <a:solidFill>
                  <a:srgbClr val="5A6472"/>
                </a:solidFill>
                <a:latin typeface="Meiryo"/>
              </a:rPr>
              <a:t>① 概念の検出 — モデル内部の活性から「テキストにその概念が含まれるか」を当てる(AUROC評価)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600">
                <a:solidFill>
                  <a:srgbClr val="5A6472"/>
                </a:solidFill>
                <a:latin typeface="Meiryo"/>
              </a:rPr>
              <a:t>② 概念の誘導(steering) — 一般の指示への応答に目標概念を混ぜ込ませる(手法はベクトル注入・prompting・fine-tuning等)。gpt-4o-miniが「概念が入ったか・指示に答えているか・流暢か」の3観点で採点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結論が重要: </a:t>
            </a:r>
            <a:r>
              <a:rPr sz="1800">
                <a:solidFill>
                  <a:srgbClr val="22272E"/>
                </a:solidFill>
                <a:latin typeface="Meiryo"/>
              </a:rPr>
              <a:t>誘導タスクで、既存のSAEベクトル注入(特徴を選んで加算)は「指示文で頼むだけのprompting」に勝てない、と報告(検出は得意でも誘導は別能力)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ReFT-r1: </a:t>
            </a:r>
            <a:r>
              <a:rPr sz="1800">
                <a:solidFill>
                  <a:srgbClr val="22272E"/>
                </a:solidFill>
                <a:latin typeface="Meiryo"/>
              </a:rPr>
              <a:t>唯一prompting級だったのは「学習した介入」(表現微調整ReFTの系譜)。= 介入は固定ルールより学習で作る方が強い、という示唆 — 本研究の設計方針と同じ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目的の違い: </a:t>
            </a:r>
            <a:r>
              <a:rPr sz="1800">
                <a:solidFill>
                  <a:srgbClr val="22272E"/>
                </a:solidFill>
                <a:latin typeface="Meiryo"/>
              </a:rPr>
              <a:t>AxBenchは「出力を概念の方向に操る」ことが目的(操舵の強さを競う)。LinguaLensと本研究は「特定した活性が本当にその特徴を担うかの因果検証」が目的。同じ介入技術を使うが、問いが違う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本研究での位置づけ: </a:t>
            </a:r>
            <a:r>
              <a:rPr sz="1800">
                <a:solidFill>
                  <a:srgbClr val="22272E"/>
                </a:solidFill>
                <a:latin typeface="Meiryo"/>
              </a:rPr>
              <a:t>AxBench準拠の介入(AUROCで1活性選択+max_act×係数の加算)とprompting を比較対象として実装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先行研究③ Edit Flows (2025) — 編集器の土台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既存の編集モデルの課題: </a:t>
            </a:r>
            <a:r>
              <a:rPr sz="1800">
                <a:solidFill>
                  <a:srgbClr val="22272E"/>
                </a:solidFill>
                <a:latin typeface="Meiryo"/>
              </a:rPr>
              <a:t>マスク穴埋め型・一発書き換え型のencoderは、「位置が固定」「長さが変わる編集(挿入・削除)が苦手」という構造的な弱点を持つ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Edit Flowsの解決: </a:t>
            </a:r>
            <a:r>
              <a:rPr sz="1800">
                <a:solidFill>
                  <a:srgbClr val="22272E"/>
                </a:solidFill>
                <a:latin typeface="Meiryo"/>
              </a:rPr>
              <a:t>文の生成・変換を「挿入・削除・置換という編集操作の列」として定式化(flow matching)。どの位置を・いくつ・どう直すかをモデル自身が選べるため、長さの変わる編集も自然に扱える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本研究での使い方: </a:t>
            </a:r>
            <a:r>
              <a:rPr sz="1800">
                <a:solidFill>
                  <a:srgbClr val="22272E"/>
                </a:solidFill>
                <a:latin typeface="Meiryo"/>
              </a:rPr>
              <a:t>この編集器(EF)を「編集の場所と内容を読み取る器」として採用し、壊した文を直す合成タスクで事前学習(EF基盤)。最終段では出力をトークンからΔh(embedding)に付け替え、凍結LM越しに学習する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効果(切除実験): </a:t>
            </a:r>
            <a:r>
              <a:rPr sz="1800">
                <a:solidFill>
                  <a:srgbClr val="22272E"/>
                </a:solidFill>
                <a:latin typeface="Meiryo"/>
              </a:rPr>
              <a:t>EF基盤なしで学習すると精度が約8割下がる — 本手法の最重要部品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先行研究④ LLM2Vec (BehnamGhader+ 2024) — 編集器の本体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何をする手法か: </a:t>
            </a:r>
            <a:r>
              <a:rPr sz="1700">
                <a:solidFill>
                  <a:srgbClr val="22272E"/>
                </a:solidFill>
                <a:latin typeface="Meiryo"/>
              </a:rPr>
              <a:t>生成用のLLM(デコーダ型)を、文を「読む」ための高性能エンコーダに作り変えるレシピ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なぜ必要か: </a:t>
            </a:r>
            <a:r>
              <a:rPr sz="1700">
                <a:solidFill>
                  <a:srgbClr val="22272E"/>
                </a:solidFill>
                <a:latin typeface="Meiryo"/>
              </a:rPr>
              <a:t>生成用LLMの注意は「自分より前の単語」しか見えない(因果注意)。しかし編集の判断には文全体 — 特に後ろの文脈 — が必要(例:「The key are…」のareを直すには後ろまで読む必要がある)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3つのステップ(平易に): </a:t>
            </a:r>
            <a:r>
              <a:rPr sz="1700">
                <a:solidFill>
                  <a:srgbClr val="22272E"/>
                </a:solidFill>
                <a:latin typeface="Meiryo"/>
              </a:rPr>
              <a:t/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  <a:latin typeface="Meiryo"/>
              </a:rPr>
              <a:t>① 注意を双方向化 — 後ろの単語も見られるようにスイッチを切り替える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  <a:latin typeface="Meiryo"/>
              </a:rPr>
              <a:t>② マスク語当てで慣らす — 文中の単語を隠して当てる練習をさせ、双方向の読み方に適応させる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  <a:latin typeface="Meiryo"/>
              </a:rPr>
              <a:t>③ 文埋め込みの対比学習 — 同じ文同士を近く、違う文を遠くに配置(SimCSE)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700" b="1">
                <a:solidFill>
                  <a:srgbClr val="0E7C66"/>
                </a:solidFill>
                <a:latin typeface="Meiryo"/>
              </a:rPr>
              <a:t>本研究での役割: </a:t>
            </a:r>
            <a:r>
              <a:rPr sz="1700">
                <a:solidFill>
                  <a:srgbClr val="22272E"/>
                </a:solidFill>
                <a:latin typeface="Meiryo"/>
              </a:rPr>
              <a:t>編集器の本体 = Gemma-2-2BのLLM2Vec化。凍結LM・SAEと同じモデル系列なので内部表現の相性が良い。さらに合成データ作成時の「文の自然さ採点」にも同じエンコーダを利用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提案手法 — スペックを読む編集器がΔhを注入</a:t>
            </a:r>
          </a:p>
        </p:txBody>
      </p:sp>
      <p:pic>
        <p:nvPicPr>
          <p:cNvPr id="4" name="Picture 3" descr="fig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024128"/>
            <a:ext cx="8412480" cy="52379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2"/>
                </a:solidFill>
                <a:latin typeface="Meiryo"/>
              </a:rPr>
              <a:t>スペックは特徴ごとに同定プールの平均から事前に用意 — 評価する文からは作らない。編集器は「どこを・どれだけ直すか」を文とスペックから自分で決め、テキストは凍結LM自身が出す。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学習方法 — 4段階(すべて自己教師あり)</a:t>
            </a:r>
          </a:p>
        </p:txBody>
      </p:sp>
      <p:pic>
        <p:nvPicPr>
          <p:cNvPr id="4" name="Picture 3" descr="fig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51560"/>
            <a:ext cx="9601200" cy="52370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2"/>
                </a:solidFill>
                <a:latin typeface="Meiryo"/>
              </a:rPr>
              <a:t>元コーパスはDolma v1.6サンプル(AllenAI)。学習にLinguaLens-Dataは一切使わない(ゼロショット転移)。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学習データと評価データ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学習データ: </a:t>
            </a:r>
            <a:r>
              <a:rPr sz="1800">
                <a:solidFill>
                  <a:srgbClr val="22272E"/>
                </a:solidFill>
                <a:latin typeface="Meiryo"/>
              </a:rPr>
              <a:t>Dolma v1.6サンプル(AllenAI公開の英語大規模コーパス)の文を確率的に壊して作った合成データ。LinguaLens-Dataは不使用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評価データ: </a:t>
            </a:r>
            <a:r>
              <a:rPr sz="1800">
                <a:solidFill>
                  <a:srgbClr val="22272E"/>
                </a:solidFill>
                <a:latin typeface="Meiryo"/>
              </a:rPr>
              <a:t>LinguaLens-Data(英語99特徴 × 約50最小対 = 4,951ペア)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データ分割(重要): </a:t>
            </a:r>
            <a:r>
              <a:rPr sz="1800">
                <a:solidFill>
                  <a:srgbClr val="22272E"/>
                </a:solidFill>
                <a:latin typeface="Meiryo"/>
              </a:rPr>
              <a:t>評価500ペア / 活性の特定(同定)プール4,451ペアに固定分割</a:t>
            </a:r>
          </a:p>
          <a:p>
            <a:pPr lvl="1">
              <a:lnSpc>
                <a:spcPct val="116000"/>
              </a:lnSpc>
              <a:spcAft>
                <a:spcPts val="800"/>
              </a:spcAft>
            </a:pPr>
            <a:r>
              <a:rPr sz="1600">
                <a:solidFill>
                  <a:srgbClr val="5A6472"/>
                </a:solidFill>
                <a:latin typeface="Meiryo"/>
              </a:rPr>
              <a:t>スペックは同定プールだけから作る → 評価する文もその正解も、スペックに一切漏れない。LinguaLens原法は全ペアで同定+同じデータで検証しており、この分離がない(我々の改良点)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参考 — AxBenchの分割(公式repo確認): </a:t>
            </a:r>
            <a:r>
              <a:rPr sz="1800">
                <a:solidFill>
                  <a:srgbClr val="22272E"/>
                </a:solidFill>
                <a:latin typeface="Meiryo"/>
              </a:rPr>
              <a:t>同定(活性選択)は概念ごとのラベル付き例文(正36/負36)、評価入力は別ソース(AlpacaEvalの命令10本/概念)。さらにその10本を半分に割り、5本で介入強度を選び残り5本で採点 — 同定/評価/強度選択の3分離を実施。我々の分割はこの流儀に揃えた形(LinguaLensのみ分離なし)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方向: </a:t>
            </a:r>
            <a:r>
              <a:rPr sz="1800">
                <a:solidFill>
                  <a:srgbClr val="22272E"/>
                </a:solidFill>
                <a:latin typeface="Meiryo"/>
              </a:rPr>
              <a:t>各最小対は「特徴を消す(ablation)」「特徴を足す(enhancement)」の両方向で評価できる(逆向き変換)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評価方法 — exact と 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exact(厳密一致): </a:t>
            </a:r>
            <a:r>
              <a:rPr sz="1800">
                <a:solidFill>
                  <a:srgbClr val="22272E"/>
                </a:solidFill>
                <a:latin typeface="Meiryo"/>
              </a:rPr>
              <a:t>「この文を復唱せよ」というプロンプト下で介入し、出力が正解文(最小対のもう片方)と完全一致した率。編集の精密さを測る。生成はgreedy — 厳格な復唱が前提のためで、温度を上げると復唱自体が崩れる(実測: temp1.0でexact約半減)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FIC(LinguaLensの指標): </a:t>
            </a:r>
            <a:r>
              <a:rPr sz="1800">
                <a:solidFill>
                  <a:srgbClr val="22272E"/>
                </a:solidFill>
                <a:latin typeface="Meiryo"/>
              </a:rPr>
              <a:t>介入ありの生成が、介入なしと比べて対象の特徴を「より多く/より少なく」示すかをGPT-4oが判定。特徴の増減の因果効果を測る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活性の特定はfeature単位: </a:t>
            </a:r>
            <a:r>
              <a:rPr sz="1800">
                <a:solidFill>
                  <a:srgbClr val="22272E"/>
                </a:solidFill>
                <a:latin typeface="Meiryo"/>
              </a:rPr>
              <a:t>特徴ごとに同定プール約45ペアの平均から上位64活性を選ぶ(評価文ごとには作らない)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集計軸: </a:t>
            </a:r>
            <a:r>
              <a:rPr sz="1800">
                <a:solidFill>
                  <a:srgbClr val="22272E"/>
                </a:solidFill>
                <a:latin typeface="Meiryo"/>
              </a:rPr>
              <a:t>方向2分類(enhancement=足す / ablation=消す — LinguaLensの用語に準拠)× 特徴4分類(形態・統語・意味・語用)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800" b="1">
                <a:solidFill>
                  <a:srgbClr val="0E7C66"/>
                </a:solidFill>
                <a:latin typeface="Meiryo"/>
              </a:rPr>
              <a:t>統制: </a:t>
            </a:r>
            <a:r>
              <a:rPr sz="1800">
                <a:solidFill>
                  <a:srgbClr val="22272E"/>
                </a:solidFill>
                <a:latin typeface="Meiryo"/>
              </a:rPr>
              <a:t>スペックを無作為に差し替えたrandom条件・空にしたempty条件を常に併記(「介入の中身に従っているか」の検算)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評価時の入力プロンプト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7C66"/>
                </a:solidFill>
                <a:latin typeface="Meiryo"/>
              </a:rPr>
              <a:t>本手法・steer(復唱枠): 編集情報ゼロの復唱指示 — 編集は介入だけが決める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24160" cy="7772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A6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Input: {src文}</a:t>
            </a:r>
          </a:p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Repeat the input sentence exactly. Never output anything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E6E8C"/>
                </a:solidFill>
                <a:latin typeface="Meiryo"/>
              </a:rPr>
              <a:t>LinguaLens準拠・AxBench準拠(書き換え枠): 中立の書き換え指示(特徴情報なし — 介入だけが偏らせる)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10424160" cy="5486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Rewrite the input sentence. Output only the rewritten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8A929E"/>
                </a:solidFill>
                <a:latin typeface="Meiryo"/>
              </a:rPr>
              <a:t>LinguaLens原法(参考): 素のプロンプトから自由生成 → GPT-4o判定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10424160" cy="5486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8A9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22272E"/>
                </a:solidFill>
                <a:latin typeface="Meiryo"/>
              </a:rPr>
              <a:t>User: Sir, tell me a story about you. Assistant:  (過去形の例)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先行2手法の介入は「自由生成を偏らせる」設計のため、コピー事前の強い復唱枠では不当に不利 — 書き換え枠が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彼らの原設定の最近傍移植。prompting腕のみ指示へ特徴名を入れる(「〜を足して/消して書き換えよ」)。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比較対象(すべて同じ同定プールで活性を特定)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6035040"/>
                <a:gridCol w="2377440"/>
              </a:tblGrid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Meiryo"/>
                        </a:rPr>
                        <a:t>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eiryo"/>
                        </a:rPr>
                        <a:t>介入のつくり方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eiryo"/>
                        </a:rPr>
                        <a:t>役割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提案手法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feature spec(上位64活性・大きさつき)を学習した編集器が読み、Δhを生成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編集器の価値を検証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ベクトル注入 steer(同スペック)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同じspecを固定変換で残差空間に足すだけ(学習なし)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編集器を外した統制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LinguaLens準拠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FRC上位3活性を固定値に書き換え(足す=10 / 消す=0)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先行手法の忠実再現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AxBench準拠ベクトル注入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AUROC上位1活性を max_act×係数 で加算(係数は彼らのグリッド)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先行手法の忠実再現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AxBench準拠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特徴名を指示文に入れて書き換えさせる(介入なし)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eiryo"/>
                        </a:rPr>
                        <a:t>強い非介入ベースライン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150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介入の強さ(スケール/係数)は各手法とも、評価500ペアに触れない開発用サンプル(同定プール内)で較正。以降の表の「steer」=ベクトル注入の略記。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介入するactivationsの選び方 — 3手法は3つの手順で分かれる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272E"/>
                </a:solidFill>
                <a:latin typeface="Meiryo"/>
              </a:rPr>
              <a:t>手順① 例文のどこで活性を測るか — 全手法「いちばん強く光った値」(max)を拾う。違いは範囲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0E7C66"/>
                </a:solidFill>
                <a:latin typeface="Meiryo"/>
              </a:rPr>
              <a:t>提案手法: </a:t>
            </a:r>
            <a:r>
              <a:rPr sz="1350">
                <a:solidFill>
                  <a:srgbClr val="22272E"/>
                </a:solidFill>
                <a:latin typeface="Meiryo"/>
              </a:rPr>
              <a:t>同定ペアの編集された箇所だけ(答え合わせできるオフライン処理。話題語などの無関係な活性を混ぜない)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5E6E8C"/>
                </a:solidFill>
                <a:latin typeface="Meiryo"/>
              </a:rPr>
              <a:t>LinguaLens: </a:t>
            </a:r>
            <a:r>
              <a:rPr sz="1350">
                <a:solidFill>
                  <a:srgbClr val="22272E"/>
                </a:solidFill>
                <a:latin typeface="Meiryo"/>
              </a:rPr>
              <a:t>文のどこでもよい(しかも「光ったか否か」の2値に落とす)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8A929E"/>
                </a:solidFill>
                <a:latin typeface="Meiryo"/>
              </a:rPr>
              <a:t>AxBench: </a:t>
            </a:r>
            <a:r>
              <a:rPr sz="1350">
                <a:solidFill>
                  <a:srgbClr val="22272E"/>
                </a:solidFill>
                <a:latin typeface="Meiryo"/>
              </a:rPr>
              <a:t>文全体でいちばん強い値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272E"/>
                </a:solidFill>
                <a:latin typeface="Meiryo"/>
              </a:rPr>
              <a:t>手順② 約45〜50ペア分をどうまとめるか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81528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0E7C66"/>
                </a:solidFill>
                <a:latin typeface="Meiryo"/>
              </a:rPr>
              <a:t>提案手法: </a:t>
            </a:r>
            <a:r>
              <a:rPr sz="1350">
                <a:solidFill>
                  <a:srgbClr val="22272E"/>
                </a:solidFill>
                <a:latin typeface="Meiryo"/>
              </a:rPr>
              <a:t>「壊す前後で活性がどう変わったか」の差を、向き(増/減)と大きさごと平均 → 1本の平均ベクトルにする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5E6E8C"/>
                </a:solidFill>
                <a:latin typeface="Meiryo"/>
              </a:rPr>
              <a:t>LinguaLens: </a:t>
            </a:r>
            <a:r>
              <a:rPr sz="1350">
                <a:solidFill>
                  <a:srgbClr val="22272E"/>
                </a:solidFill>
                <a:latin typeface="Meiryo"/>
              </a:rPr>
              <a:t>「現象あり文で光り、なし文で光らなかったペアの割合」を数える(PS/PN → FRC点)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8A929E"/>
                </a:solidFill>
                <a:latin typeface="Meiryo"/>
              </a:rPr>
              <a:t>AxBench: </a:t>
            </a:r>
            <a:r>
              <a:rPr sz="1350">
                <a:solidFill>
                  <a:srgbClr val="22272E"/>
                </a:solidFill>
                <a:latin typeface="Meiryo"/>
              </a:rPr>
              <a:t>「現象あり/なしをどれだけ見分けられたか」を採点(AUROC点)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272E"/>
                </a:solidFill>
                <a:latin typeface="Meiryo"/>
              </a:rPr>
              <a:t>手順③ まとめた結果をどう介入に使うか — ここが最大の分かれ目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73168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0E7C66"/>
                </a:solidFill>
                <a:latin typeface="Meiryo"/>
              </a:rPr>
              <a:t>提案手法: </a:t>
            </a:r>
            <a:r>
              <a:rPr sz="1350">
                <a:solidFill>
                  <a:srgbClr val="22272E"/>
                </a:solidFill>
                <a:latin typeface="Meiryo"/>
              </a:rPr>
              <a:t>平均ベクトルの上位64個を大きさ・向きごと編集器に渡す(点数レースをしない)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5E6E8C"/>
                </a:solidFill>
                <a:latin typeface="Meiryo"/>
              </a:rPr>
              <a:t>LinguaLens: </a:t>
            </a:r>
            <a:r>
              <a:rPr sz="1350">
                <a:solidFill>
                  <a:srgbClr val="22272E"/>
                </a:solidFill>
                <a:latin typeface="Meiryo"/>
              </a:rPr>
              <a:t>点数上位3個の「番号」だけ選び、値は10/0に固定(点数も大きさも捨てる)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50" b="1">
                <a:solidFill>
                  <a:srgbClr val="8A929E"/>
                </a:solidFill>
                <a:latin typeface="Meiryo"/>
              </a:rPr>
              <a:t>AxBench: </a:t>
            </a:r>
            <a:r>
              <a:rPr sz="1350">
                <a:solidFill>
                  <a:srgbClr val="22272E"/>
                </a:solidFill>
                <a:latin typeface="Meiryo"/>
              </a:rPr>
              <a:t>点数1位の「番号」だけ選び、強さは係数で別途調整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上位には点数がほぼ同じ活性が多数ある(SAEの特徴分裂)ため、「上位1〜3個を選ぶ」方式はデータが半分変わると選ばれる活性の4割超が入れ替わる。平均ベクトルを丸ごと使う提案手法は安定(半分でも類似度0.83)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比較対象の詳細 — prompting(介入なしの天井)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Meiryo"/>
              </a:rPr>
              <a:t>同じ凍結LM(gemma-2-2b-it)に、指示文だけで編集させる。SAEも介入も使わない「言葉で頼む」やり方の上限を測る腕。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7C66"/>
                </a:solidFill>
                <a:latin typeface="Meiryo"/>
              </a:rPr>
              <a:t>実際のプロンプト(sup方向の例、greedy生成):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E7C66"/>
                </a:solidFill>
                <a:latin typeface="Meiryo"/>
              </a:rPr>
              <a:t>true(正しい特徴名)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76272"/>
            <a:ext cx="7863840" cy="50292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Rewrite the input sentence to remove any {特徴名: 例 superlative}. Output only the rewritten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529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E6E8C"/>
                </a:solidFill>
                <a:latin typeface="Meiryo"/>
              </a:rPr>
              <a:t>random(無関係な特徴名)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5E6E8C"/>
                </a:solidFill>
                <a:latin typeface="Meiryo"/>
              </a:rPr>
              <a:t>= 特異性の検算用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816352"/>
            <a:ext cx="7863840" cy="50292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Rewrite the input sentence to remove any {別の特徴名: 例 metaphor}. Output only the rewritten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A929E"/>
                </a:solidFill>
                <a:latin typeface="Meiryo"/>
              </a:rPr>
              <a:t>empty(特徴名なし)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456432"/>
            <a:ext cx="7863840" cy="50292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8A9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Rewrite the input sentence. Output only the rewritten sentence.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A6472"/>
                </a:solidFill>
                <a:latin typeface="Meiryo"/>
              </a:rPr>
              <a:t>※ いずれも後ろに Input: {src文} を付けてチャット形式で入力。amp方向は remove → add に変わるだけ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500" b="1">
                <a:solidFill>
                  <a:srgbClr val="0E7C66"/>
                </a:solidFill>
                <a:latin typeface="Meiryo"/>
              </a:rPr>
              <a:t>randomの意味: </a:t>
            </a:r>
            <a:r>
              <a:rPr sz="1500">
                <a:solidFill>
                  <a:srgbClr val="22272E"/>
                </a:solidFill>
                <a:latin typeface="Meiryo"/>
              </a:rPr>
              <a:t>無関係な特徴名で同じ指示をしたときに編集が出るか = 「指定に従っているか」の検算。ここで編集してしまうのがpromptingの弱点(失敗例スライド)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500" b="1">
                <a:solidFill>
                  <a:srgbClr val="0E7C66"/>
                </a:solidFill>
                <a:latin typeface="Meiryo"/>
              </a:rPr>
              <a:t>参考(付録): </a:t>
            </a:r>
            <a:r>
              <a:rPr sz="1500">
                <a:solidFill>
                  <a:srgbClr val="22272E"/>
                </a:solidFill>
                <a:latin typeface="Meiryo"/>
              </a:rPr>
              <a:t>AxBenchの字義通りの移植 — gpt-4o-miniに生成させた長い操舵文(例:「回答には能動的な動詞の概念を織り込み…」)を前置する方式も試したが、編集タスクにはほぼ転移しなかった(exact 0.006)。上の「編集向けの自然な指示」に直した版(0.180)を本命の比較対象としている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実験結果 1/2 — L12(プロンプト枠ごとに表を分離、random併記)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7C66"/>
                </a:solidFill>
                <a:latin typeface="Meiryo"/>
              </a:rPr>
              <a:t>復唱枠(無介入=コピー、床0 — 編集情報は介入だけが運ぶ)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35607"/>
          <a:ext cx="111556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ablation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enhancement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特異性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提案手法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◎ 誤specでは編集しない(copy 0.95)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steer(同スペック)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○ 誤specは文を乱すが正解に一致せず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788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E6E8C"/>
                </a:solidFill>
                <a:latin typeface="Meiryo"/>
              </a:rPr>
              <a:t>書き換え枠(無介入でも自発編集 — randomが床相当になるのは介入が不活性なため)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172968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ablation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enhancement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備考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prompting(特徴名入り指示)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randomでも編集=特異性なし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AxBench準拠ベクトル注入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random≈床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LinguaLens準拠クランプ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random≈床(recon)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素のrewrite(無介入の床)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指示だけの自発編集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578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・枠が違う表同士の生の数値比較は不可 — 各行は「true − 自分のrandom(床)」で読む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・正味: 提案 0.128/0.094、prompting 0.092/0.165、AxB準拠 0.018/0.028、LL準拠 0.006/0.012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・FIC(gpt-4o因果判定、L12): 消す方向 提案0.94 ≫ steer 0.76 / prompting 0.42 / LL準拠 0.08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  足す方向 prompting 0.49 &gt; steer 0.35 &gt; 提案 0.31 — 消す方向の因果効果では提案が圧倒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実験結果 2/2 — L4・L20(true / random、枠ごとに分離)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E7C66"/>
                </a:solidFill>
                <a:latin typeface="Meiryo"/>
              </a:rPr>
              <a:t>復唱枠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35607"/>
          <a:ext cx="1115568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手法(true/random)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L4 abl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L4 enh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L20 abl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L20 enh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提案手法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0.086 / 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0.172 / 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0.036 / 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0.048 / 0.030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steer(同スペック)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0.108 /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0.074 / 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0.020 /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0.024 / 0.002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788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E6E8C"/>
                </a:solidFill>
                <a:latin typeface="Meiryo"/>
              </a:rPr>
              <a:t>書き換え枠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172968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手法(true/random)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L4 abl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L4 enh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L20 abl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L20 enh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prompting(層共通)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0.180 / 0.088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0.227 / 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0.180 / 0.088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0.227 / 0.062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AxBench準拠ベクトル注入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0.076 / 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0.132 / 0.112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0.056 / 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0.110 / 0.118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LinguaLens準拠クランプ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0.046 / 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0.070 / 0.042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0.048 / 0.050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0.108 / 0.108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latin typeface="Meiryo"/>
                        </a:rPr>
                        <a:t>素のrewrite(無介入の床)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0.060 / 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0.120 / 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0.060 / 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eiryo"/>
                        </a:rPr>
                        <a:t>0.120 / 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5780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・提案のL4 enhancement 0.172(random 0.032)は全介入手法の最高値。L4 ablationのみ同スペックsteerが上回る(0.108 vs 0.086)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・AxBench準拠・LinguaLens準拠はどの層でもtrue≈random(正味の効果ほぼなし)— 1〜3個の番号選び+固定強度では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  精密編集を駆動できない(考察は04§9f)。L20は全介入が弱い(深層は編集余地が小さい)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・FIC 消す方向: 提案はL4 0.85 / L20 0.85と全層で最良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FICの計算方法(平易版)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7C66"/>
                </a:solidFill>
                <a:latin typeface="Meiryo"/>
              </a:rPr>
              <a:t>手順① 2つの生成を用意する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72E"/>
                </a:solidFill>
                <a:latin typeface="Meiryo"/>
              </a:rPr>
              <a:t>同じ入力文から「介入あり」と「介入なし(復唱だけ)」の2つの生成を作る。違いは介入の有無だけ — 差が出れば介入のせいと言える。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7C66"/>
                </a:solidFill>
                <a:latin typeface="Meiryo"/>
              </a:rPr>
              <a:t>手順② GPT-4oが見比べる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72E"/>
                </a:solidFill>
                <a:latin typeface="Meiryo"/>
              </a:rPr>
              <a:t>2つの文を見せて「対象の特徴(例: 過去形)がより多いのはどちらか? MORE / LESS / SAME で答えよ」と聞く。どちらが介入ありかは伏せ、提示順もランダム化(当てずっぽう・位置バイアス対策)。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55263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7C66"/>
                </a:solidFill>
                <a:latin typeface="Meiryo"/>
              </a:rPr>
              <a:t>手順③ 割合を2つ数える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599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72E"/>
                </a:solidFill>
                <a:latin typeface="Meiryo"/>
              </a:rPr>
              <a:t>PT = 正しいspecで狙い通りに動いた割合(消す方向ならLESS判定の率)。PB = でたらめ(random)specで同じことが起きた割合 — 「介入の中身と無関係に起きる分」の基準線。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5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7C66"/>
                </a:solidFill>
                <a:latin typeface="Meiryo"/>
              </a:rPr>
              <a:t>手順④ スコア = (PT − PB) / PT   ※足す方向は (PT − PB) / (1 − PB)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365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2272E"/>
                </a:solidFill>
                <a:latin typeface="Meiryo"/>
              </a:rPr>
              <a:t>「観測された効果のうち、正しい指定に起因する部分の割合」。0 = でたらめspecと変わらない(特異性なし)、1 = 効果が全てspec由来。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58967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2"/>
                </a:solidFill>
                <a:latin typeface="Meiryo"/>
              </a:rPr>
              <a:t>例(提案手法・L12・消す方向): PT=39%、PB=2% → (0.39−0.02)/0.39 = 0.94。「94%のペアで成功」ではなく「除去効果のほぼ全てが正しいspecに起因する」という特異性の値。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2"/>
                </a:solidFill>
                <a:latin typeface="Meiryo"/>
              </a:rPr>
              <a:t>式はLinguaLens公式(App. E.2)そのまま。負値はw=0.5のペナルティで算入、両方向が揃うfeatureは調和平均がFIC。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実験結果 3/3 — FIC(方向別成分 E_abl / E_enh と統合値)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介入ありの生成を無介入と比べ、対象特徴が「より少ない(消す方向)/より多い(足す方向)」と判定された正味の割合。介入の因果効果を直接測る、本研究の主眼の指標。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31074"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手法(ablation/enhancement)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L20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eiryo"/>
                        </a:rPr>
                        <a:t>まとめ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提案手法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0.85 / 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0.94 / 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0.85 / 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消す方向は全層最良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steer(同スペック)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0.41 / 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0.76 / 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0.77 / 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ablationはefに次ぐ、enhancementはL12/L20でef超え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prompting(層共通)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0.42 / 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0.42 / 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0.42 / 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足す方向の最良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LinguaLens準拠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0.10 / −0.07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0.08 / −0.07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−0.05 / −0.04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全セルほぼゼロ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r>
                        <a:rPr sz="1250" b="1">
                          <a:latin typeface="Meiryo"/>
                        </a:rPr>
                        <a:t>AxBench準拠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0.20 / −0.03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−0.01 / −0.06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−0.02 / −0.07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latin typeface="Meiryo"/>
                        </a:rPr>
                        <a:t>因果効果ほぼなし(L4 ablのみ弱い効果)</a:t>
                      </a:r>
                    </a:p>
                  </a:txBody>
                  <a:tcPr/>
                </a:tc>
              </a:tr>
              <a:tr h="43107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9834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・消す方向: 提案 0.85-0.94 で全層最良(較正済みsteer 0.41-0.77が次点)— exactの差より桁違いに大きい因果効果差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・LinguaLens準拠(彼らの介入そのもの)は全セルほぼゼロ — 「単発介入は力不足」という彼ら自身の課題認識を追認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・提案の弱点も明確: enhancementはL12/L20で同スペックsteerに劣る(0.31 vs 0.35 / 0.03 vs 0.17)— 深層のenhancementが改善対象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・統合FIC(両成分の調和平均・LinguaLens公式): ef L4 0.55 / L12 0.46 / L20 0.12、steer L12 0.57、prompting 0.41、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  LinguaLens準拠 0.05-0.07 — L12ではefのenhancement弱さが律速し同スペックsteerに逆転される(改善実験が進行中)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FIC成功の中身 — 「exactではないがFICで正解」の実例と検証(L12 sup)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まずFICの読み方: 提案の0.94は「94%成功」ではない。true specで特徴が消えた率PT=39%、random specでは2% — (PT−PB)/PT=0.94 は「効果のほぼ全てが正しいspecに起因する」という特異性の値。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E7C66"/>
                </a:solidFill>
                <a:latin typeface="Meiryo"/>
              </a:rPr>
              <a:t>提案手法: 成功195件 = exact 63 + 言い換え132(壊れ文2%・コピー0)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5669280" cy="23774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src: He wanted to slowly walk through …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out: He wanted to walk slowly through …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(不定詞分割は解消 — 正解と副詞位置が違うだけ)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/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src: The songs are popular.(複数を消す課題)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tgt: The song are popular.(正解の対事実は非文)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out: The song is popular.(文法的な正しい編集)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/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src: Stand up. → out: You should stand up.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(命令文は解消 — 正解 You are required to… と別表現)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E6E8C"/>
                </a:solidFill>
                <a:latin typeface="Meiryo"/>
              </a:rPr>
              <a:t>steer: 成功225件のうち壊れ文19%(要割引)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349240" cy="12344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out: May May Interject the mobile app needs …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out: rowspan rowspan rowspan rowspan …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(文を壊せば特徴も消える — LESS判定で加点)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929E"/>
                </a:solidFill>
                <a:latin typeface="Meiryo"/>
              </a:rPr>
              <a:t>prompting: 壊れ文1%だが過剰編集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69080"/>
            <a:ext cx="5349240" cy="86868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8A9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src: …the most respectful student…</a:t>
            </a:r>
          </a:p>
          <a:p>
            <a:pPr algn="ctr"/>
            <a:r>
              <a:rPr sz="1150" b="0">
                <a:solidFill>
                  <a:srgbClr val="22272E"/>
                </a:solidFill>
                <a:latin typeface="Meiryo"/>
              </a:rPr>
              <a:t>out: He is a respectful student here.(冠詞まで変更)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検証(非exact成功の品質): 提案 = 壊れ文2%・対正解類似0.57・コピー起因0件 — 高FICは「文を壊して消す」得点ではなく、流暢な言い換えによる本物の特徴除去。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A6472"/>
                </a:solidFill>
                <a:latin typeface="Meiryo"/>
              </a:rPr>
              <a:t>steerの0.76は壊れ文19%を含み割引が必要(本文に明記)。promptingは流暢だが指定外も変える(exact低の主因)。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失敗例 — promptingのFICはなぜ低いか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472"/>
                </a:solidFill>
                <a:latin typeface="Meiryo"/>
              </a:rPr>
              <a:t>FICは「正しい指定のときだけ特徴が動くか」を測る(間違った指定でも動くと減点)。promptingは指示が間違っていても編集してしまうため、exactが高くてもFICが下がる。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E6E8C"/>
                </a:solidFill>
                <a:latin typeface="Meiryo"/>
              </a:rPr>
              <a:t>prompting: 無関係な特徴の指示でも消してしまう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5577840" cy="28346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5E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src:  He is the most respectful student here.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無関係指示: → He is the respectful student here.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(頼んでいない最上級が消える=正解と同じ編集)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/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src:  May I interject, the mobile app needs …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無関係指示: → The mobile app needs …(間投句が消える)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/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src:  He wanted to slowly walk through …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無関係指示: → He wanted to leisurely explore …(大幅書換)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7C66"/>
                </a:solidFill>
                <a:latin typeface="Meiryo"/>
              </a:rPr>
              <a:t>本手法: 正しいスペックでも編集が出ないことがある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286000"/>
            <a:ext cx="5394960" cy="2834640"/>
          </a:xfrm>
          <a:prstGeom prst="roundRect">
            <a:avLst/>
          </a:prstGeom>
          <a:solidFill>
            <a:srgbClr val="F6F7F8"/>
          </a:solidFill>
          <a:ln w="2032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src:  He is the most respectful student here.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出力 = src のまま(最上級を消せず)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/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src:  A clock ticks without pause.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出力 = src のまま(without pauseを削除できず)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/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src:  Biologists studied green slime in …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出力 = src のまま(algaeへの語彙置換 —</a:t>
            </a:r>
          </a:p>
          <a:p>
            <a:pPr algn="ctr"/>
            <a:r>
              <a:rPr sz="1200" b="0">
                <a:solidFill>
                  <a:srgbClr val="22272E"/>
                </a:solidFill>
                <a:latin typeface="Meiryo"/>
              </a:rPr>
              <a:t> 特徴平均のスペックでは単語の中身まで運べない)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492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まとめ: promptingの失敗=「効きすぎ」(指定に従わない編集 → 介入としての特異性がない)。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472"/>
                </a:solidFill>
                <a:latin typeface="Meiryo"/>
              </a:rPr>
              <a:t>本手法の失敗=「効かなさすぎ」(発火不足・語彙固有の編集)。改善はToDo②のスペック較正と追加学習が対応。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2272E"/>
                </a:solidFill>
                <a:latin typeface="Meiryo"/>
              </a:rPr>
              <a:t>残り1週間のToDo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① 活性数の絞り込み分析(L12): </a:t>
            </a:r>
            <a:r>
              <a:rPr sz="1900">
                <a:solidFill>
                  <a:srgbClr val="22272E"/>
                </a:solidFill>
                <a:latin typeface="Meiryo"/>
              </a:rPr>
              <a:t>現在の64個は多すぎる可能性。上位から絞り込んだときの精度変化を、特徴4分類(形態・統語・意味・語用)ごとに測定 — 「何個の活性で特徴を担えるか」の実証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② 精度改善案の実施: </a:t>
            </a:r>
            <a:r>
              <a:rPr sz="1900">
                <a:solidFill>
                  <a:srgbClr val="22272E"/>
                </a:solidFill>
                <a:latin typeface="Meiryo"/>
              </a:rPr>
              <a:t>スペックの整形(大きさの較正・雑音除去)、編集器を集約スペック入りで追加学習、方向別の較正 など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③ 活性特定の自動化の検討: </a:t>
            </a:r>
            <a:r>
              <a:rPr sz="1900">
                <a:solidFill>
                  <a:srgbClr val="22272E"/>
                </a:solidFill>
                <a:latin typeface="Meiryo"/>
              </a:rPr>
              <a:t>LinguaLens-Dataの一部で編集器ごと学習し、「どの活性を動かすべきか」自体をモデルに特定させる手法を設計できないか検討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900" b="1">
                <a:solidFill>
                  <a:srgbClr val="0E7C66"/>
                </a:solidFill>
                <a:latin typeface="Meiryo"/>
              </a:rPr>
              <a:t>(継続) </a:t>
            </a:r>
            <a:r>
              <a:rPr sz="1900">
                <a:solidFill>
                  <a:srgbClr val="22272E"/>
                </a:solidFill>
                <a:latin typeface="Meiryo"/>
              </a:rPr>
              <a:t>全セルの計測完了・FIC判定完了 → 4分類別の完全な表に更新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