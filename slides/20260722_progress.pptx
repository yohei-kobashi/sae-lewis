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扱うタスク: </a:t>
            </a:r>
            <a:r>
              <a:rPr sz="1800">
                <a:solidFill>
                  <a:srgbClr val="22272E"/>
                </a:solidFill>
                <a:latin typeface="Meiryo"/>
              </a:rPr>
              <a:t>500概念(Gemma-2 2B/9B)を対象にした2つのベンチマーク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① 概念の検出 — モデル内部の活性から「テキストにその概念が含まれるか」を当てる(AUROC評価)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② 概念の誘導(steering) — 一般の指示への応答に目標概念を混ぜ込ませる(手法はベクトル注入・prompting・fine-tuning等)。gpt-4o-miniが「概念が入ったか・指示に答えているか・流暢か」の3観点で採点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誘導タスクで、既存のSAEベクトル注入(特徴を選んで加算)は「指示文で頼むだけのprompting」に勝てない、と報告(検出は得意でも誘導は別能力)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参考 — AxBenchの分割(公式repo確認): </a:t>
            </a:r>
            <a:r>
              <a:rPr sz="1800">
                <a:solidFill>
                  <a:srgbClr val="22272E"/>
                </a:solidFill>
                <a:latin typeface="Meiryo"/>
              </a:rPr>
              <a:t>同定(活性選択)は概念ごとのラベル付き例文(正36/負36)、評価入力は別ソース(AlpacaEvalの命令10本/概念)。さらにその10本を半分に割り、5本で介入強度を選び残り5本で採点 — 同定/評価/強度選択の3分離を実施。我々の分割はこの流儀に揃えた形(LinguaLensのみ分離なし)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各最小対は「特徴を消す(ablation)」「特徴を足す(enhancement)」の両方向で評価できる(逆向き変換)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「この文を復唱せよ」というプロンプト下で介入し、出力が正解文(最小対のもう片方)と完全一致した率。編集の精密さを測る。生成はgreedy — 厳格な復唱が前提のためで、温度を上げると復唱自体が崩れる(実測: temp1.0でexact約半減)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方向2分類(enhancement=足す / ablation=消す — LinguaLensの用語に準拠)×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LinguaLens準拠・AxBench準拠(書き換え枠): 中立の書き換え指示(特徴情報なし — 介入だけが偏らせる)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46120"/>
            <a:ext cx="10424160" cy="548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Output only the rewritten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80560"/>
            <a:ext cx="10424160" cy="548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8A9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57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先行2手法の介入は「自由生成を偏らせる」設計のため、コピー事前の強い復唱枠では不当に不利 — 書き換え枠が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彼らの原設定の最近傍移植。prompting腕のみ指示へ特徴名を入れる(「〜を足して/消して書き換えよ」)。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ベクトル注入 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介入の強さ(スケール/係数)は各手法とも、評価500ペアに触れない開発用サンプル(同定プール内)で較正。以降の表の「steer」=ベクトル注入の略記。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3手法は3つの手順で分かれる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手順① 例文のどこで活性を測るか — 全手法「いちばん強く光った値」(max)を拾う。違いは範囲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同定ペアの編集された箇所だけ(答え合わせできるオフライン処理。話題語などの無関係な活性を混ぜない)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文のどこでもよい(しかも「光ったか否か」の2値に落とす)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文全体でいちばん強い値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手順② 約45〜50ペア分をどうまとめるか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8152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「壊す前後で活性がどう変わったか」の差を、向き(増/減)と大きさごと平均 → 1本の平均ベクトルにする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「現象あり文で光り、なし文で光らなかったペアの割合」を数える(PS/PN → FRC点)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「現象あり/なしをどれだけ見分けられたか」を採点(AUROC点)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手順③ まとめた結果をどう介入に使うか — ここが最大の分かれ目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7316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平均ベクトルの上位64個を大きさ・向きごと編集器に渡す(点数レースをしない)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点数上位3個の「番号」だけ選び、値は10/0に固定(点数も大きさも捨てる)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点数1位の「番号」だけ選び、強さは係数で別途調整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上位には点数がほぼ同じ活性が多数ある(SAEの特徴分裂)ため、「上位1〜3個を選ぶ」方式はデータが半分変わると選ばれる活性の4割超が入れ替わる。平均ベクトルを丸ごと使う提案手法は安定(半分でも類似度0.83)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128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7C66"/>
                </a:solidFill>
                <a:latin typeface="Meiryo"/>
              </a:rPr>
              <a:t>true(正しい特徴名)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217627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 to remove any {特徴名: 例 superlative}. Output only the rewritten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52928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E6E8C"/>
                </a:solidFill>
                <a:latin typeface="Meiryo"/>
              </a:rPr>
              <a:t>random(無関係な特徴名)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5E6E8C"/>
                </a:solidFill>
                <a:latin typeface="Meiryo"/>
              </a:rPr>
              <a:t>= 特異性の検算用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281635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 to remove any {別の特徴名: 例 metaphor}. Output only the rewritten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9300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29E"/>
                </a:solidFill>
                <a:latin typeface="Meiryo"/>
              </a:rPr>
              <a:t>empty(特徴名なし)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345643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8A9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sentence. Output only the rewritten sentence.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A6472"/>
                </a:solidFill>
                <a:latin typeface="Meiryo"/>
              </a:rPr>
              <a:t>※ いずれも後ろに Input: {src文} を付けてチャット形式で入力。amp方向は remove → add に変わるだけ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5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5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5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5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1/2 — L12(プロンプト枠ごとに表を分離、random併記)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7C66"/>
                </a:solidFill>
                <a:latin typeface="Meiryo"/>
              </a:rPr>
              <a:t>復唱枠(無介入=コピー、床0 — 編集情報は介入だけが運ぶ)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35607"/>
          <a:ext cx="1115568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ablation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enhancement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特異性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◎ 誤specでは編集しない(copy 0.95)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○ 誤specは文を乱すが正解に一致せず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27889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E6E8C"/>
                </a:solidFill>
                <a:latin typeface="Meiryo"/>
              </a:rPr>
              <a:t>書き換え枠(無介入でも自発編集 — randomが床相当になるのは介入が不活性なため)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172968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ablation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enhancement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備考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prompting(特徴名入り指示)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randomでも編集=特異性なし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random≈床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LinguaLens準拠クランプ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random≈床(recon)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素のrewrite(無介入の床)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指示だけの自発編集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2578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・枠が違う表同士の生の数値比較は不可 — 各行は「true − 自分のrandom(床)」で読む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・正味: 提案 0.128/0.094、prompting 0.092/0.165、AxB準拠 0.018/0.028、LL準拠 0.006/0.012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・FIC(gpt-4o因果判定、L12): 消す方向 提案0.94 ≫ steer 0.76 / prompting 0.42 / LL準拠 0.08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足す方向 prompting 0.49 &gt; steer 0.35 &gt; 提案 0.31 — 消す方向の因果効果では提案が圧倒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2/2 — L4・L20(true / random、枠ごとに分離)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7C66"/>
                </a:solidFill>
                <a:latin typeface="Meiryo"/>
              </a:rPr>
              <a:t>復唱枠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35607"/>
          <a:ext cx="1115568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abl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enh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abl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enh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0.172 / 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0.036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0.030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0.074 / 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0.020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0.024 / 0.002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27889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E6E8C"/>
                </a:solidFill>
                <a:latin typeface="Meiryo"/>
              </a:rPr>
              <a:t>書き換え枠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172968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abl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enh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abl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enh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0.076 / 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0.132 / 0.112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0.056 / 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0.110 / 0.118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LinguaLens準拠クランプ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0.046 / 0.030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 / 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0.108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素のrewrite(無介入の床)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 / 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25780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・提案のL4 enhancement 0.172(random 0.032)は全介入手法の最高値。L4 ablationのみ同スペックsteerが上回る(0.108 vs 0.086)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・AxBench準拠・LinguaLens準拠はどの層でもtrue≈random(正味の効果ほぼなし)— 1〜3個の番号選び+固定強度では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精密編集を駆動できない(考察は04§9f)。L20は全介入が弱い(深層は編集余地が小さい)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 消す方向: 提案はL4 0.85 / L20 0.85と全層で最良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FICの計算方法(平易版)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手順① 2つの生成を用意する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99616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72E"/>
                </a:solidFill>
                <a:latin typeface="Meiryo"/>
              </a:rPr>
              <a:t>同じ入力文から「介入あり」と「介入なし(復唱だけ)」の2つの生成を作る。違いは介入の有無だけ — 差が出れば介入のせいと言える。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7627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手順② GPT-4oが見比べる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78608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72E"/>
                </a:solidFill>
                <a:latin typeface="Meiryo"/>
              </a:rPr>
              <a:t>2つの文を見せて「対象の特徴(例: 過去形)がより多いのはどちらか? MORE / LESS / SAME で答えよ」と聞く。どちらが介入ありかは伏せ、提示順もランダム化(当てずっぽう・位置バイアス対策)。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55263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手順③ 割合を2つ数える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57599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72E"/>
                </a:solidFill>
                <a:latin typeface="Meiryo"/>
              </a:rPr>
              <a:t>PT = 正しいspecで狙い通りに動いた割合(消す方向ならLESS判定の率)。PB = でたらめ(random)specで同じことが起きた割合 — 「介入の中身と無関係に起きる分」の基準線。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34255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手順④ スコア = (PT − PB) / PT   ※足す方向は (PT − PB) / (1 − PB)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736592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72E"/>
                </a:solidFill>
                <a:latin typeface="Meiryo"/>
              </a:rPr>
              <a:t>「観測された効果のうち、正しい指定に起因する部分の割合」。0 = でたらめspecと変わらない(特異性なし)、1 = 効果が全てspec由来。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58967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例(提案手法・L12・消す方向): PT=39%、PB=2% → (0.39−0.02)/0.39 = 0.94。「94%のペアで成功」ではなく「除去効果のほぼ全てが正しいspecに起因する」という特異性の値。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式はLinguaLens公式(App. E.2)そのまま。負値はw=0.5のペナルティで算入、両方向が揃うfeatureは調和平均がFIC。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3/3 — FIC(方向別成分 E_abl / E_enh と統合値)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介入ありの生成を無介入と比べ、対象特徴が「より少ない(消す方向)/より多い(足す方向)」と判定された正味の割合。介入の因果効果を直接測る、本研究の主眼の指標。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31074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手法(ablation/enhancement)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まとめ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0.94 / 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消す方向は全層最良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0.41 / 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0.76 / 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0.77 /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ablationはefに次ぐ、enhancementはL12/L20でef超え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足す方向の最良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−0.05 / −0.04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全セルほぼゼロ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追って判定</a:t>
                      </a:r>
                    </a:p>
                  </a:txBody>
                  <a:tcPr/>
                </a:tc>
              </a:tr>
              <a:tr h="43107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・消す方向: 提案 0.85-0.94 で全層最良(較正済みsteer 0.41-0.77が次点)— exactの差より桁違いに大きい因果効果差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・LinguaLens準拠(彼らの介入そのもの)は全セルほぼゼロ — 「単発介入は力不足」という彼ら自身の課題認識を追認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・提案の弱点も明確: enhancementはL12/L20で同スペックsteerに劣る(0.31 vs 0.35 / 0.03 vs 0.17)— 深層のenhancementが改善対象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・統合FIC(両成分の調和平均・LinguaLens公式): ef L4 0.55 / L12 0.46 / L20 0.12、steer L12 0.57、prompting 0.41、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LinguaLens準拠 0.05-0.07 — L12ではefのenhancement弱さが律速し同スペックsteerに逆転される(改善実験が進行中)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FIC成功の中身 — 「exactではないがFICで正解」の実例と検証(L12 sup)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まずFICの読み方: 提案の0.94は「94%成功」ではない。true specで特徴が消えた率PT=39%、random specでは2% — (PT−PB)/PT=0.94 は「効果のほぼ全てが正しいspecに起因する」という特異性の値。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E7C66"/>
                </a:solidFill>
                <a:latin typeface="Meiryo"/>
              </a:rPr>
              <a:t>提案手法: 成功195件 = exact 63 + 言い換え132(壊れ文2%・コピー0)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669280" cy="23774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He wanted to slowly walk through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He wanted to walk slowly through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(不定詞分割は解消 — 正解と副詞位置が違うだけ)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The songs are popular.(複数を消す課題)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tgt: The song are popular.(正解の対事実は非文)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The song is popular.(文法的な正しい編集)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Stand up. → out: You should stand up.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(命令文は解消 — 正解 You are required to… と別表現)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7451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E6E8C"/>
                </a:solidFill>
                <a:latin typeface="Meiryo"/>
              </a:rPr>
              <a:t>steer: 成功225件のうち壊れ文19%(要割引)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286000"/>
            <a:ext cx="5349240" cy="12344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May May Interject the mobile app needs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rowspan rowspan rowspan rowspan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(文を壊せば特徴も消える — LESS判定で加点)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657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8A929E"/>
                </a:solidFill>
                <a:latin typeface="Meiryo"/>
              </a:rPr>
              <a:t>prompting: 壊れ文1%だが過剰編集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069080"/>
            <a:ext cx="5349240" cy="8686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8A9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…the most respectful student…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He is a respectful student here.(冠詞まで変更)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検証(非exact成功の品質): 提案 = 壊れ文2%・対正解類似0.57・コピー起因0件 — 高FICは「文を壊して消す」得点ではなく、流暢な言い換えによる本物の特徴除去。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steerの0.76は壊れ文19%を含み割引が必要(本文に明記)。promptingは流暢だが指定外も変える(exact低の主因)。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